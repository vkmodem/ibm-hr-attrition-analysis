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</c:v>
                </c:pt>
              </c:strCache>
            </c:strRef>
          </c:tx>
          <c:spPr>
            <a:solidFill>
              <a:srgbClr val="C0398F">
                <a:alpha val="100000"/>
              </a:srgbClr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1F3A5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Sales</c:v>
                </c:pt>
                <c:pt idx="1">
                  <c:v>Human Resources</c:v>
                </c:pt>
                <c:pt idx="2">
                  <c:v>Research &amp; Development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20.6</c:v>
                </c:pt>
                <c:pt idx="1">
                  <c:v>19</c:v>
                </c:pt>
                <c:pt idx="2">
                  <c:v>13.8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51-49DE-BE11-9E7A41D2C4D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A67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b"/>
        <c:majorGridlines>
          <c:spPr>
            <a:ln w="6350" cap="flat">
              <a:solidFill>
                <a:srgbClr val="E8EC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7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50" b="1" i="0" u="none" strike="noStrike">
                    <a:solidFill>
                      <a:srgbClr val="1F3A5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Research Director</c:v>
                </c:pt>
                <c:pt idx="1">
                  <c:v>Manager</c:v>
                </c:pt>
                <c:pt idx="2">
                  <c:v>Healthcare Rep.</c:v>
                </c:pt>
                <c:pt idx="3">
                  <c:v>Manufacturing Dir.</c:v>
                </c:pt>
                <c:pt idx="4">
                  <c:v>Research Scientist</c:v>
                </c:pt>
                <c:pt idx="5">
                  <c:v>Sales Executive</c:v>
                </c:pt>
                <c:pt idx="6">
                  <c:v>Human Resources</c:v>
                </c:pt>
                <c:pt idx="7">
                  <c:v>Lab Technician</c:v>
                </c:pt>
                <c:pt idx="8">
                  <c:v>Sales Representative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2.5</c:v>
                </c:pt>
                <c:pt idx="1">
                  <c:v>4.9000000000000004</c:v>
                </c:pt>
                <c:pt idx="2">
                  <c:v>6.9</c:v>
                </c:pt>
                <c:pt idx="3">
                  <c:v>6.9</c:v>
                </c:pt>
                <c:pt idx="4">
                  <c:v>16.100000000000001</c:v>
                </c:pt>
                <c:pt idx="5">
                  <c:v>17.5</c:v>
                </c:pt>
                <c:pt idx="6">
                  <c:v>23.1</c:v>
                </c:pt>
                <c:pt idx="7">
                  <c:v>23.9</c:v>
                </c:pt>
                <c:pt idx="8">
                  <c:v>39.799999999999997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D1-4692-B70F-9B80F334F7D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5A67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"/>
          <c:min val="0"/>
        </c:scaling>
        <c:delete val="0"/>
        <c:axPos val="b"/>
        <c:majorGridlines>
          <c:spPr>
            <a:ln w="6350" cap="flat">
              <a:solidFill>
                <a:srgbClr val="E8EC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7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</c:v>
                </c:pt>
              </c:strCache>
            </c:strRef>
          </c:tx>
          <c:spPr>
            <a:solidFill>
              <a:srgbClr val="C0398F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1" i="0" u="none" strike="noStrike">
                    <a:solidFill>
                      <a:srgbClr val="1F3A5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Works overtime</c:v>
                </c:pt>
                <c:pt idx="1">
                  <c:v>No overtime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30.5</c:v>
                </c:pt>
                <c:pt idx="1">
                  <c:v>10.4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2B-4827-BB66-F7722CC1FFF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A67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6350" cap="flat">
              <a:solidFill>
                <a:srgbClr val="E8EC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7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1" i="0" u="none" strike="noStrike">
                    <a:solidFill>
                      <a:srgbClr val="1F3A5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Single</c:v>
                </c:pt>
                <c:pt idx="1">
                  <c:v>Married</c:v>
                </c:pt>
                <c:pt idx="2">
                  <c:v>Divorced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25.5</c:v>
                </c:pt>
                <c:pt idx="1">
                  <c:v>12.5</c:v>
                </c:pt>
                <c:pt idx="2">
                  <c:v>10.1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B3-49AF-B348-E45A8622D9C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A67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6350" cap="flat">
              <a:solidFill>
                <a:srgbClr val="E8EC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7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2633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Open with the one-line framing: this project asks who is leaving IBM and whether there's a pattern HR can act on. Mention the three tools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attrition as a cost, not bad luck. The three cards are the spine of the whole deck: who, why, so what.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pipeline left to right. Emphasise that the SQL ran against a real MySQL database, not a flat file — closer to a real team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numbers anchor everything. Stress that 16% is an average that hides much higher pockets — that's the hook into the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itself. Point out the slicers on the right — anyone in HR can slice the numbers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count-vs-rate distinction is the analytical point here. R&amp;D has the most leavers in absolute terms, but Sales has the highest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single bar is arguably the most important result in the project. Junior, pressured, lower-paid role churns hardest.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Overtime is the single cleanest split between leavers and stayers. The marital-status pattern is really an age/life-stage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synthesis slide. The power is in the stacking — the textbook at-risk employee is a young Sales Rep working overtime.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findings as a to-do list. Each recommendation maps directly back to a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intellectual honesty: associations, not causation, plus a clear roadmap. This signals analytical maturity.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14283F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3474720" cy="3474720"/>
          </a:xfrm>
          <a:prstGeom prst="ellipse">
            <a:avLst/>
          </a:prstGeom>
          <a:solidFill>
            <a:srgbClr val="C0398F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43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C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PORTFOLIO PROJECT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HR Attrition Analysis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49808" y="2880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D9E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people leave — and where the company should look first.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77240" y="3749040"/>
            <a:ext cx="1645920" cy="502920"/>
          </a:xfrm>
          <a:prstGeom prst="roundRect">
            <a:avLst>
              <a:gd name="adj" fmla="val 49091"/>
            </a:avLst>
          </a:prstGeom>
          <a:solidFill>
            <a:srgbClr val="14283F"/>
          </a:solidFill>
          <a:ln w="12700">
            <a:solidFill>
              <a:srgbClr val="C039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7490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06040" y="3749040"/>
            <a:ext cx="1645920" cy="502920"/>
          </a:xfrm>
          <a:prstGeom prst="roundRect">
            <a:avLst>
              <a:gd name="adj" fmla="val 49091"/>
            </a:avLst>
          </a:prstGeom>
          <a:solidFill>
            <a:srgbClr val="14283F"/>
          </a:solidFill>
          <a:ln w="12700">
            <a:solidFill>
              <a:srgbClr val="C039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37490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34840" y="3749040"/>
            <a:ext cx="1645920" cy="502920"/>
          </a:xfrm>
          <a:prstGeom prst="roundRect">
            <a:avLst>
              <a:gd name="adj" fmla="val 49091"/>
            </a:avLst>
          </a:prstGeom>
          <a:solidFill>
            <a:srgbClr val="14283F"/>
          </a:solidFill>
          <a:ln w="12700">
            <a:solidFill>
              <a:srgbClr val="C039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37490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5074920"/>
            <a:ext cx="3657600" cy="0"/>
          </a:xfrm>
          <a:prstGeom prst="line">
            <a:avLst/>
          </a:prstGeom>
          <a:noFill/>
          <a:ln w="25400">
            <a:solidFill>
              <a:srgbClr val="C039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212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Venkata Modem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49808" y="5623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1,470 employees  ·  16.12% attrition  ·  end-to-end analysis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3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676656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resignation costs the company twice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1264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someone leaves, there's the visible cost of hiring and training a replacement — and the quieter loss of knowledge, relationships and momentum that walk out with them.</a:t>
            </a:r>
            <a:endParaRPr lang="en-US" sz="1600" dirty="0"/>
          </a:p>
          <a:p>
            <a:pPr marL="0" indent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 employer the size of IBM, even a small share of avoidable departures becomes a serious annual bill.</a:t>
            </a:r>
            <a:endParaRPr lang="en-US" sz="1600" dirty="0"/>
          </a:p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question driving this project was simple: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6126480" cy="1463040"/>
          </a:xfrm>
          <a:prstGeom prst="roundRect">
            <a:avLst>
              <a:gd name="adj" fmla="val 5000"/>
            </a:avLst>
          </a:prstGeom>
          <a:solidFill>
            <a:srgbClr val="F7F4F8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4297680"/>
            <a:ext cx="5577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i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“Who is leaving — and is there a pattern behind it that HR can actually act on?”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040880" y="1783080"/>
            <a:ext cx="4572000" cy="1143000"/>
          </a:xfrm>
          <a:prstGeom prst="roundRect">
            <a:avLst>
              <a:gd name="adj" fmla="val 6400"/>
            </a:avLst>
          </a:prstGeom>
          <a:solidFill>
            <a:srgbClr val="F3F5F8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269480" y="2075688"/>
            <a:ext cx="566928" cy="566928"/>
          </a:xfrm>
          <a:prstGeom prst="ellipse">
            <a:avLst/>
          </a:prstGeom>
          <a:solidFill>
            <a:srgbClr val="1F3A5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2551" y="2228759"/>
            <a:ext cx="260787" cy="26078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46720" y="1965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046720" y="23317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people and roles are most likely to go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040880" y="3108960"/>
            <a:ext cx="4572000" cy="1143000"/>
          </a:xfrm>
          <a:prstGeom prst="roundRect">
            <a:avLst>
              <a:gd name="adj" fmla="val 6400"/>
            </a:avLst>
          </a:prstGeom>
          <a:solidFill>
            <a:srgbClr val="F3F5F8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269480" y="3401568"/>
            <a:ext cx="566928" cy="566928"/>
          </a:xfrm>
          <a:prstGeom prst="ellipse">
            <a:avLst/>
          </a:prstGeom>
          <a:solidFill>
            <a:srgbClr val="1F3A5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2551" y="3554639"/>
            <a:ext cx="260787" cy="26078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046720" y="32918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8046720" y="36576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traits the leavers share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040880" y="4434840"/>
            <a:ext cx="4572000" cy="1143000"/>
          </a:xfrm>
          <a:prstGeom prst="roundRect">
            <a:avLst>
              <a:gd name="adj" fmla="val 6400"/>
            </a:avLst>
          </a:prstGeom>
          <a:solidFill>
            <a:srgbClr val="1F3A5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269480" y="4727448"/>
            <a:ext cx="566928" cy="566928"/>
          </a:xfrm>
          <a:prstGeom prst="ellipse">
            <a:avLst/>
          </a:prstGeom>
          <a:solidFill>
            <a:srgbClr val="C0398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2551" y="4880519"/>
            <a:ext cx="260787" cy="26078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046720" y="4617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what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046720" y="49834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9E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HR should focus limited effort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HR Attrition Analysis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3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APPROACHED 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676656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stages, from raw file to a story HR can read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703320"/>
          </a:xfrm>
          <a:prstGeom prst="roundRect">
            <a:avLst>
              <a:gd name="adj" fmla="val 2078"/>
            </a:avLst>
          </a:prstGeom>
          <a:solidFill>
            <a:srgbClr val="F3F5F8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777240" cy="777240"/>
          </a:xfrm>
          <a:prstGeom prst="ellipse">
            <a:avLst/>
          </a:prstGeom>
          <a:solidFill>
            <a:srgbClr val="C0398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535" y="2358695"/>
            <a:ext cx="357530" cy="3575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834640" y="21031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D9D9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68680" y="3154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&amp; explore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86968" y="3611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86968" y="402336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dead columns, checked correlations, profiled who leaves with pandas and seaborn.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43400" y="1828800"/>
            <a:ext cx="3520440" cy="3703320"/>
          </a:xfrm>
          <a:prstGeom prst="roundRect">
            <a:avLst>
              <a:gd name="adj" fmla="val 2078"/>
            </a:avLst>
          </a:prstGeom>
          <a:solidFill>
            <a:srgbClr val="1F3A5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2148840"/>
            <a:ext cx="777240" cy="777240"/>
          </a:xfrm>
          <a:prstGeom prst="ellipse">
            <a:avLst/>
          </a:prstGeom>
          <a:solidFill>
            <a:srgbClr val="C0398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295" y="2358695"/>
            <a:ext cx="357530" cy="3575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29400" y="21031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3C57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15" name="Text 11"/>
          <p:cNvSpPr/>
          <p:nvPr/>
        </p:nvSpPr>
        <p:spPr>
          <a:xfrm>
            <a:off x="4663440" y="3154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the data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4681728" y="3611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· MySQL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681728" y="402336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9E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the clean table into MySQL and answered nine business questions with grouped queries and window functions.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8138160" y="1828800"/>
            <a:ext cx="3520440" cy="3703320"/>
          </a:xfrm>
          <a:prstGeom prst="roundRect">
            <a:avLst>
              <a:gd name="adj" fmla="val 2078"/>
            </a:avLst>
          </a:prstGeom>
          <a:solidFill>
            <a:srgbClr val="F3F5F8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458200" y="2148840"/>
            <a:ext cx="777240" cy="777240"/>
          </a:xfrm>
          <a:prstGeom prst="ellipse">
            <a:avLst/>
          </a:prstGeom>
          <a:solidFill>
            <a:srgbClr val="C0398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8055" y="2358695"/>
            <a:ext cx="357530" cy="35753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424160" y="21031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D9D9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22" name="Text 17"/>
          <p:cNvSpPr/>
          <p:nvPr/>
        </p:nvSpPr>
        <p:spPr>
          <a:xfrm>
            <a:off x="8458200" y="3154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Communicate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8476488" y="3611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8476488" y="402336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one interactive page with KPIs, slicers and breakdowns so HR can explore it without writing code.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HR Attrition Analysis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3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AT A GLANCE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676656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fictional but realistic snapshot of 1,470 employees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F3F5F8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377440"/>
            <a:ext cx="640080" cy="640080"/>
          </a:xfrm>
          <a:prstGeom prst="ellipse">
            <a:avLst/>
          </a:prstGeom>
          <a:solidFill>
            <a:srgbClr val="1F3A5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070" y="2550262"/>
            <a:ext cx="294437" cy="2944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3055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1,470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709928" y="27889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in the sample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43400" y="187452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F3F5F8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36008" y="2377440"/>
            <a:ext cx="640080" cy="640080"/>
          </a:xfrm>
          <a:prstGeom prst="ellipse">
            <a:avLst/>
          </a:prstGeom>
          <a:solidFill>
            <a:srgbClr val="C0398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8830" y="2550262"/>
            <a:ext cx="294437" cy="2944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213055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237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5504688" y="27889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left the company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38160" y="187452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F3F5F8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30768" y="2377440"/>
            <a:ext cx="640080" cy="640080"/>
          </a:xfrm>
          <a:prstGeom prst="ellipse">
            <a:avLst/>
          </a:prstGeom>
          <a:solidFill>
            <a:srgbClr val="1F3A5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3590" y="2550262"/>
            <a:ext cx="294437" cy="29443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81160" y="213055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16.12%</a:t>
            </a:r>
            <a:endParaRPr lang="en-US" sz="3200" dirty="0"/>
          </a:p>
        </p:txBody>
      </p:sp>
      <p:sp>
        <p:nvSpPr>
          <p:cNvPr id="18" name="Text 13"/>
          <p:cNvSpPr/>
          <p:nvPr/>
        </p:nvSpPr>
        <p:spPr>
          <a:xfrm>
            <a:off x="9299448" y="27889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attrition rate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374904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F3F5F8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41248" y="4251960"/>
            <a:ext cx="640080" cy="640080"/>
          </a:xfrm>
          <a:prstGeom prst="ellipse">
            <a:avLst/>
          </a:prstGeom>
          <a:solidFill>
            <a:srgbClr val="C0398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070" y="4424782"/>
            <a:ext cx="294437" cy="29443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400507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$6.5K</a:t>
            </a:r>
            <a:endParaRPr lang="en-US" sz="3200" dirty="0"/>
          </a:p>
        </p:txBody>
      </p:sp>
      <p:sp>
        <p:nvSpPr>
          <p:cNvPr id="23" name="Text 17"/>
          <p:cNvSpPr/>
          <p:nvPr/>
        </p:nvSpPr>
        <p:spPr>
          <a:xfrm>
            <a:off x="1709928" y="46634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monthly income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343400" y="374904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F3F5F8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36008" y="4251960"/>
            <a:ext cx="640080" cy="640080"/>
          </a:xfrm>
          <a:prstGeom prst="ellipse">
            <a:avLst/>
          </a:prstGeom>
          <a:solidFill>
            <a:srgbClr val="1F3A5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8830" y="4424782"/>
            <a:ext cx="294437" cy="29443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86400" y="400507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7.01 yrs</a:t>
            </a:r>
            <a:endParaRPr lang="en-US" sz="3200" dirty="0"/>
          </a:p>
        </p:txBody>
      </p:sp>
      <p:sp>
        <p:nvSpPr>
          <p:cNvPr id="28" name="Text 21"/>
          <p:cNvSpPr/>
          <p:nvPr/>
        </p:nvSpPr>
        <p:spPr>
          <a:xfrm>
            <a:off x="5504688" y="46634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tenure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138160" y="374904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F3F5F8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30768" y="4251960"/>
            <a:ext cx="640080" cy="640080"/>
          </a:xfrm>
          <a:prstGeom prst="ellipse">
            <a:avLst/>
          </a:prstGeom>
          <a:solidFill>
            <a:srgbClr val="C0398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03590" y="4424782"/>
            <a:ext cx="294437" cy="29443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81160" y="400507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3200" dirty="0"/>
          </a:p>
        </p:txBody>
      </p:sp>
      <p:sp>
        <p:nvSpPr>
          <p:cNvPr id="33" name="Text 25"/>
          <p:cNvSpPr/>
          <p:nvPr/>
        </p:nvSpPr>
        <p:spPr>
          <a:xfrm>
            <a:off x="9299448" y="46634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age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HR Attrition Analysis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C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DELIVERABLE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676656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page that answers most questions in five seconds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913292" y="1481328"/>
            <a:ext cx="8334936" cy="4617720"/>
          </a:xfrm>
          <a:prstGeom prst="roundRect">
            <a:avLst>
              <a:gd name="adj" fmla="val 1188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5" name="Image 0" descr="/home/claude/work/assets/dashboard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4732" y="1572768"/>
            <a:ext cx="8152056" cy="4434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2819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overtime, department, gender or education field — no SQL required.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3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— DEPARTMENT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676656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loses people fastest, even if R&amp;D loses more bodies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828800"/>
          <a:ext cx="67665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920240"/>
            <a:ext cx="4023360" cy="3931920"/>
          </a:xfrm>
          <a:prstGeom prst="roundRect">
            <a:avLst>
              <a:gd name="adj" fmla="val 1860"/>
            </a:avLst>
          </a:prstGeom>
          <a:solidFill>
            <a:srgbClr val="1F3A5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909560" y="2148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C6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909560" y="2697480"/>
            <a:ext cx="3520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counts point at R&amp;D simply because it's the biggest team.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by rate, Sales is the real outlier at ~21% — well above the 16% average.</a:t>
            </a:r>
            <a:endParaRPr lang="en-US" sz="14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4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at counts alone would have aimed attention at the wrong department.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HR Attrition Analysis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3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— JOB ROLE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676656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role stands apart: Sales Representatives leave at ~40%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783080"/>
          <a:ext cx="74066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219456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F7F4F8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503920" y="2468880"/>
            <a:ext cx="640080" cy="640080"/>
          </a:xfrm>
          <a:prstGeom prst="ellipse">
            <a:avLst/>
          </a:prstGeom>
          <a:solidFill>
            <a:srgbClr val="C0398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6742" y="2641702"/>
            <a:ext cx="294437" cy="29443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326880" y="25420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8503920" y="342900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Representative — a junior, high-pressure, lower-paid role — churns at nearly 2.5x the company average.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C03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HR could fix only one thing, this is where to point them.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HR Attrition Analysis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3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 — BEHAVIOUR &amp; LIFE STAGE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676656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Overtime is the cleanest signal of who walks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 overtime vs not</a:t>
            </a:r>
            <a:endParaRPr lang="en-US" sz="1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2194560"/>
          <a:ext cx="53949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7830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marital status</a:t>
            </a:r>
            <a:endParaRPr lang="en-US" sz="16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6263640" y="2194560"/>
          <a:ext cx="53949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employees leave ~3x more often. Single staff leave more too — mostly a reflection of age and life stage, not marital status itself.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HR Attrition Analysis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C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777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findings stack into one at-risk profile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2084832" cy="2468880"/>
          </a:xfrm>
          <a:prstGeom prst="roundRect">
            <a:avLst>
              <a:gd name="adj" fmla="val 4386"/>
            </a:avLst>
          </a:prstGeom>
          <a:solidFill>
            <a:srgbClr val="14283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25296" y="2194560"/>
            <a:ext cx="640080" cy="640080"/>
          </a:xfrm>
          <a:prstGeom prst="ellipse">
            <a:avLst/>
          </a:prstGeom>
          <a:solidFill>
            <a:srgbClr val="C0398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118" y="2367382"/>
            <a:ext cx="294437" cy="2944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97180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Younger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12648" y="3611880"/>
            <a:ext cx="18653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EB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in their careers</a:t>
            </a:r>
            <a:endParaRPr lang="en-US" sz="11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2971800"/>
            <a:ext cx="201168" cy="2011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788920" y="1920240"/>
            <a:ext cx="2084832" cy="2468880"/>
          </a:xfrm>
          <a:prstGeom prst="roundRect">
            <a:avLst>
              <a:gd name="adj" fmla="val 4386"/>
            </a:avLst>
          </a:prstGeom>
          <a:solidFill>
            <a:srgbClr val="14283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511296" y="2194560"/>
            <a:ext cx="640080" cy="640080"/>
          </a:xfrm>
          <a:prstGeom prst="ellipse">
            <a:avLst/>
          </a:prstGeom>
          <a:solidFill>
            <a:srgbClr val="C0398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4118" y="2367382"/>
            <a:ext cx="294437" cy="29443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880360" y="297180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2898648" y="3611880"/>
            <a:ext cx="18653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EB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mobile, fewer anchors</a:t>
            </a:r>
            <a:endParaRPr lang="en-US" sz="11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971800"/>
            <a:ext cx="201168" cy="20116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074920" y="1920240"/>
            <a:ext cx="2084832" cy="2468880"/>
          </a:xfrm>
          <a:prstGeom prst="roundRect">
            <a:avLst>
              <a:gd name="adj" fmla="val 4386"/>
            </a:avLst>
          </a:prstGeom>
          <a:solidFill>
            <a:srgbClr val="14283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5797296" y="2194560"/>
            <a:ext cx="640080" cy="640080"/>
          </a:xfrm>
          <a:prstGeom prst="ellipse">
            <a:avLst/>
          </a:prstGeom>
          <a:solidFill>
            <a:srgbClr val="C0398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0118" y="2367382"/>
            <a:ext cx="294437" cy="294437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166360" y="297180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Junior / sales role</a:t>
            </a:r>
            <a:endParaRPr lang="en-US" sz="1550" dirty="0"/>
          </a:p>
        </p:txBody>
      </p:sp>
      <p:sp>
        <p:nvSpPr>
          <p:cNvPr id="20" name="Text 13"/>
          <p:cNvSpPr/>
          <p:nvPr/>
        </p:nvSpPr>
        <p:spPr>
          <a:xfrm>
            <a:off x="5184648" y="3611880"/>
            <a:ext cx="18653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EB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Reps above all</a:t>
            </a:r>
            <a:endParaRPr lang="en-US" sz="11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2971800"/>
            <a:ext cx="201168" cy="201168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360920" y="1920240"/>
            <a:ext cx="2084832" cy="2468880"/>
          </a:xfrm>
          <a:prstGeom prst="roundRect">
            <a:avLst>
              <a:gd name="adj" fmla="val 4386"/>
            </a:avLst>
          </a:prstGeom>
          <a:solidFill>
            <a:srgbClr val="14283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8083296" y="2194560"/>
            <a:ext cx="640080" cy="640080"/>
          </a:xfrm>
          <a:prstGeom prst="ellipse">
            <a:avLst/>
          </a:prstGeom>
          <a:solidFill>
            <a:srgbClr val="C0398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6118" y="2367382"/>
            <a:ext cx="294437" cy="294437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452360" y="297180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paid</a:t>
            </a:r>
            <a:endParaRPr lang="en-US" sz="1550" dirty="0"/>
          </a:p>
        </p:txBody>
      </p:sp>
      <p:sp>
        <p:nvSpPr>
          <p:cNvPr id="26" name="Text 17"/>
          <p:cNvSpPr/>
          <p:nvPr/>
        </p:nvSpPr>
        <p:spPr>
          <a:xfrm>
            <a:off x="7470648" y="3611880"/>
            <a:ext cx="18653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EB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easiest to tempt away</a:t>
            </a:r>
            <a:endParaRPr lang="en-US" sz="115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2971800"/>
            <a:ext cx="201168" cy="201168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9646920" y="1920240"/>
            <a:ext cx="2084832" cy="2468880"/>
          </a:xfrm>
          <a:prstGeom prst="roundRect">
            <a:avLst>
              <a:gd name="adj" fmla="val 4386"/>
            </a:avLst>
          </a:prstGeom>
          <a:solidFill>
            <a:srgbClr val="14283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9" name="Shape 19"/>
          <p:cNvSpPr/>
          <p:nvPr/>
        </p:nvSpPr>
        <p:spPr>
          <a:xfrm>
            <a:off x="10369296" y="2194560"/>
            <a:ext cx="640080" cy="640080"/>
          </a:xfrm>
          <a:prstGeom prst="ellipse">
            <a:avLst/>
          </a:prstGeom>
          <a:solidFill>
            <a:srgbClr val="C0398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42118" y="2367382"/>
            <a:ext cx="294437" cy="294437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9738360" y="297180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 overtime</a:t>
            </a:r>
            <a:endParaRPr lang="en-US" sz="1550" dirty="0"/>
          </a:p>
        </p:txBody>
      </p:sp>
      <p:sp>
        <p:nvSpPr>
          <p:cNvPr id="32" name="Text 21"/>
          <p:cNvSpPr/>
          <p:nvPr/>
        </p:nvSpPr>
        <p:spPr>
          <a:xfrm>
            <a:off x="9756648" y="3611880"/>
            <a:ext cx="18653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EB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clearest red flag</a:t>
            </a:r>
            <a:endParaRPr lang="en-US" sz="1150" dirty="0"/>
          </a:p>
        </p:txBody>
      </p:sp>
      <p:sp>
        <p:nvSpPr>
          <p:cNvPr id="33" name="Shape 22"/>
          <p:cNvSpPr/>
          <p:nvPr/>
        </p:nvSpPr>
        <p:spPr>
          <a:xfrm>
            <a:off x="1463040" y="4800600"/>
            <a:ext cx="9235440" cy="1325880"/>
          </a:xfrm>
          <a:prstGeom prst="roundRect">
            <a:avLst>
              <a:gd name="adj" fmla="val 5517"/>
            </a:avLst>
          </a:prstGeom>
          <a:solidFill>
            <a:srgbClr val="C0398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4" name="Text 23"/>
          <p:cNvSpPr/>
          <p:nvPr/>
        </p:nvSpPr>
        <p:spPr>
          <a:xfrm>
            <a:off x="1737360" y="4937760"/>
            <a:ext cx="8686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 of these traits is alarming alone. When several land on the same person — a young Sales Rep on overtime — the risk compounds.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3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676656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I'd suggest HR do about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F7F4F8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84832"/>
            <a:ext cx="603504" cy="603504"/>
          </a:xfrm>
          <a:prstGeom prst="ellipse">
            <a:avLst/>
          </a:prstGeom>
          <a:solidFill>
            <a:srgbClr val="C0398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06" y="2247778"/>
            <a:ext cx="277612" cy="2776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29384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Start with Sales Representatives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45920" y="2313432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40% loss rate in one role is a focused problem, not a company-wide one. Exit interviews plus a review of pay, targets and workload for that group would likely pay for itself.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15468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F3F5F8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3456432"/>
            <a:ext cx="603504" cy="603504"/>
          </a:xfrm>
          <a:prstGeom prst="ellipse">
            <a:avLst/>
          </a:prstGeom>
          <a:solidFill>
            <a:srgbClr val="1F3A5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906" y="3619378"/>
            <a:ext cx="277612" cy="2776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3300984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Treat overtime as an early-warning flag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645920" y="3685032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splits leavers from stayers more cleanly than almost anything else. Tracking who is consistently over hours gives managers a checklist before people reach the door.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452628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F3F5F8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828032"/>
            <a:ext cx="603504" cy="603504"/>
          </a:xfrm>
          <a:prstGeom prst="ellipse">
            <a:avLst/>
          </a:prstGeom>
          <a:solidFill>
            <a:srgbClr val="1F3A5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906" y="4990978"/>
            <a:ext cx="277612" cy="2776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672584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Protect the lower pay bands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645920" y="5056632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income paired with a junior role is where retention spending goes furthest — these people are both the most likely to leave and the most movable by a modest intervention.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HR Attrition Analysis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3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&amp; NEXT STEPS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676656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shows — and what it doesn't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3F5F8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116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stops short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1248" y="251460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fictional, point-in-time dataset — so it shows association, not proof of cause.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lining up with attrition is a strong signal to investigate, not a closed case.</a:t>
            </a:r>
            <a:endParaRPr lang="en-US" sz="14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45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describe the past; they aren't a forecast on their own.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26480" y="1783080"/>
            <a:ext cx="5486400" cy="3931920"/>
          </a:xfrm>
          <a:prstGeom prst="roundRect">
            <a:avLst>
              <a:gd name="adj" fmla="val 1860"/>
            </a:avLst>
          </a:prstGeom>
          <a:solidFill>
            <a:srgbClr val="1F3A5F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20116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C6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I'd take it next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19088" y="2514600"/>
            <a:ext cx="49834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classification model (logistic regression or gradient boosting) to score each employee's attrition risk.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time-based data to move from “who left” to “who's about to.”</a:t>
            </a:r>
            <a:endParaRPr lang="en-US" sz="14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4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overtime and Sales findings against real exit-interview notes.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for reading  ·  Venkata Modem  ·  Python · SQL · Power BI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HR Attrition Analysis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1115</Words>
  <Application>Microsoft Office PowerPoint</Application>
  <PresentationFormat>Widescreen</PresentationFormat>
  <Paragraphs>137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IBM HR Attrition Analysis</dc:title>
  <dc:subject>PptxGenJS Presentation</dc:subject>
  <dc:creator>Venkata Modem</dc:creator>
  <cp:lastModifiedBy>Uma Reddy Modem</cp:lastModifiedBy>
  <cp:revision>1</cp:revision>
  <dcterms:created xsi:type="dcterms:W3CDTF">2026-06-28T08:26:31Z</dcterms:created>
  <dcterms:modified xsi:type="dcterms:W3CDTF">2026-06-28T08:33:02Z</dcterms:modified>
</cp:coreProperties>
</file>